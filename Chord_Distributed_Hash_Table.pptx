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ba11a5d09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ba11a5d09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ba11a5d09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aba11a5d09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ba11a5d09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ba11a5d09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ba11a5d09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aba11a5d09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ba11a5d09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ba11a5d09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ba11a5d09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aba11a5d09_2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ba11a5d09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aba11a5d09_2_10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ba11a5d09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ba11a5d09_2_1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ba11a5d09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aba11a5d09_2_1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ba11a5d09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aba11a5d09_2_1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685800" y="297022"/>
            <a:ext cx="7772400" cy="24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 sz="4400"/>
              <a:t>Chord: Distributed Hash Table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b="1"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371600" y="4105250"/>
            <a:ext cx="64008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GB" sz="1700"/>
              <a:t>Richa Verma</a:t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GB" sz="1700">
                <a:solidFill>
                  <a:srgbClr val="888888"/>
                </a:solidFill>
              </a:rPr>
              <a:t>Nikhil Saji Chacko</a:t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&amp; Motivation</a:t>
            </a:r>
            <a:endParaRPr sz="3200"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What is a Distributed Hash Table (DHT)?</a:t>
            </a:r>
            <a:endParaRPr sz="1400"/>
          </a:p>
          <a:p>
            <a:pPr indent="-2730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Scalable, decentralized key-value storage</a:t>
            </a:r>
            <a:endParaRPr sz="1400"/>
          </a:p>
          <a:p>
            <a:pPr indent="-2730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No single point of failure or coordination bottleneck</a:t>
            </a:r>
            <a:endParaRPr sz="1400"/>
          </a:p>
          <a:p>
            <a:pPr indent="-2730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Used in P2P systems, distributed storage, CDNs</a:t>
            </a:r>
            <a:endParaRPr sz="1400"/>
          </a:p>
          <a:p>
            <a:pPr indent="-317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Why Chord?</a:t>
            </a:r>
            <a:endParaRPr sz="1400"/>
          </a:p>
          <a:p>
            <a:pPr indent="-2730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Elegant simplicity with provable efficiency</a:t>
            </a:r>
            <a:endParaRPr sz="1400"/>
          </a:p>
          <a:p>
            <a:pPr indent="-2730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O(log N) lookup complexity</a:t>
            </a:r>
            <a:endParaRPr sz="1400"/>
          </a:p>
          <a:p>
            <a:pPr indent="-2730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Graceful handling of dynamic membership</a:t>
            </a:r>
            <a:endParaRPr sz="1400"/>
          </a:p>
          <a:p>
            <a:pPr indent="0" lvl="0" marL="742950" rtl="0" algn="l"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Chord Protocol Overview</a:t>
            </a:r>
            <a:endParaRPr sz="3200"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Key Concepts: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Consistent Hashing: Maps nodes and keys to circular identifier space [0, 2^m - 1]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Ring Structure: Nodes arranged in a logical ring by their hash IDs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Successor Rule: Key k is stored at successor(k) - first node ≥ k</a:t>
            </a:r>
            <a:endParaRPr sz="1400"/>
          </a:p>
          <a:p>
            <a:pPr indent="-317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Node &amp; Key Identifiers:</a:t>
            </a:r>
            <a:endParaRPr sz="1400"/>
          </a:p>
          <a:p>
            <a:pPr indent="-2730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node_id = SHA-1(IP:Port) mod 2^m</a:t>
            </a:r>
            <a:endParaRPr sz="1400"/>
          </a:p>
          <a:p>
            <a:pPr indent="-2730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key_id = SHA-1(key_string) mod 2^m</a:t>
            </a:r>
            <a:endParaRPr sz="1400"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i="1" lang="en-GB" sz="1400"/>
              <a:t>Our implementation uses m = 8 bits (256 positions). 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with Finger Tables</a:t>
            </a:r>
            <a:endParaRPr sz="3200"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The Core Innovation: O(log N) lookup via finger tables</a:t>
            </a:r>
            <a:endParaRPr sz="1400"/>
          </a:p>
          <a:p>
            <a:pPr indent="-3302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GB" sz="1400"/>
              <a:t>Each node maintains m finger entries: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finger[i].start = (n + 2^(i-1)) mod 2^m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>
                <a:latin typeface="Courier New"/>
                <a:ea typeface="Courier New"/>
                <a:cs typeface="Courier New"/>
                <a:sym typeface="Courier New"/>
              </a:rPr>
              <a:t>finger[i].node = successor(finger[i].start)</a:t>
            </a:r>
            <a:endParaRPr sz="1400"/>
          </a:p>
          <a:p>
            <a:pPr indent="-317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Lookup Algorithm: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If key in (n, successor]: return successor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Else: forward to closest preceding node in finger table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Converges in O(log N) hops</a:t>
            </a:r>
            <a:endParaRPr sz="1400"/>
          </a:p>
          <a:p>
            <a:pPr indent="-3429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i="1" lang="en-GB" sz="1400"/>
              <a:t>Exponentially spaced fingers enable large jumps across the ring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Stabilization &amp; Dynamic Membership</a:t>
            </a:r>
            <a:endParaRPr sz="3200"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Periodic Maintenance (every 1 second):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Stabilize(): Verify and update successor pointers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Notify(): Inform potential predecessors of presence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FixFingers(): Incrementally refresh finger table entries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CheckPredecessor(): Detect and remove failed predecessors</a:t>
            </a:r>
            <a:endParaRPr sz="1400"/>
          </a:p>
          <a:p>
            <a:pPr indent="-317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Node Join: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Contact any existing node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Find successor via lookup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Initialize finger table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Stabilization integrates node into ring</a:t>
            </a:r>
            <a:endParaRPr sz="1400"/>
          </a:p>
          <a:p>
            <a:pPr indent="-3302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Node Failure: Detected via ping timeout; routing self-heals automatically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3200"/>
          </a:p>
        </p:txBody>
      </p:sp>
      <p:sp>
        <p:nvSpPr>
          <p:cNvPr id="160" name="Google Shape;160;p30"/>
          <p:cNvSpPr txBox="1"/>
          <p:nvPr/>
        </p:nvSpPr>
        <p:spPr>
          <a:xfrm>
            <a:off x="573875" y="1356600"/>
            <a:ext cx="4114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Components: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(node.py)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 Chord protocol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Finger Table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data structure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Storage (storage.py)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Persistent key-value store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gRPC Service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Inter-node communication</a:t>
            </a:r>
            <a:endParaRPr/>
          </a:p>
        </p:txBody>
      </p:sp>
      <p:sp>
        <p:nvSpPr>
          <p:cNvPr id="161" name="Google Shape;161;p30"/>
          <p:cNvSpPr txBox="1"/>
          <p:nvPr/>
        </p:nvSpPr>
        <p:spPr>
          <a:xfrm>
            <a:off x="4838250" y="1356600"/>
            <a:ext cx="36576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Interfaces: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Visualization (FastAPI)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Command-line Interface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WebSocket updates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Technology Stack: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3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gRPC + Protocol Buffers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JSON persistence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Replication &amp; Fault Tolerance</a:t>
            </a:r>
            <a:endParaRPr sz="3200"/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Configurable Replication (Default: R = 3)</a:t>
            </a:r>
            <a:endParaRPr sz="1400"/>
          </a:p>
          <a:p>
            <a:pPr indent="-3302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PUT Operation:</a:t>
            </a:r>
            <a:endParaRPr sz="1400"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Store key on primary node (successor of key hash)</a:t>
            </a:r>
            <a:endParaRPr sz="1400"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Replicate to R-1 consecutive successors</a:t>
            </a:r>
            <a:endParaRPr sz="1400"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Quorum: Requires majority (⌈R/2⌉) to succeed</a:t>
            </a:r>
            <a:endParaRPr sz="1400"/>
          </a:p>
          <a:p>
            <a:pPr indent="-3302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GET Operation:</a:t>
            </a:r>
            <a:endParaRPr sz="1400"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Try reading from replicas in order</a:t>
            </a:r>
            <a:endParaRPr sz="1400"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Return first successful read</a:t>
            </a:r>
            <a:endParaRPr sz="1400"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Fallback ensures availability</a:t>
            </a:r>
            <a:endParaRPr sz="1400"/>
          </a:p>
          <a:p>
            <a:pPr indent="-3302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Benefits:</a:t>
            </a:r>
            <a:endParaRPr sz="1400"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Survives R-1 node failures per key</a:t>
            </a:r>
            <a:endParaRPr sz="1400"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Higher read availability</a:t>
            </a:r>
            <a:endParaRPr sz="1400"/>
          </a:p>
          <a:p>
            <a:pPr indent="-2857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Improved load distribution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Analysis</a:t>
            </a:r>
            <a:endParaRPr sz="3200"/>
          </a:p>
        </p:txBody>
      </p:sp>
      <p:sp>
        <p:nvSpPr>
          <p:cNvPr id="173" name="Google Shape;173;p32"/>
          <p:cNvSpPr txBox="1"/>
          <p:nvPr/>
        </p:nvSpPr>
        <p:spPr>
          <a:xfrm>
            <a:off x="839075" y="1386600"/>
            <a:ext cx="4114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Lookup Complexity: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Theoretical: O(log N)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Practical: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Avg: 4-5 hops (50-100 nodes)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Best: 1 hop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Worst: 8 hops (max)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Storage Overhead: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Replication: R × storage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state: m entries/node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Memory: O(K/N · R + log N)</a:t>
            </a:r>
            <a:endParaRPr/>
          </a:p>
        </p:txBody>
      </p:sp>
      <p:sp>
        <p:nvSpPr>
          <p:cNvPr id="174" name="Google Shape;174;p32"/>
          <p:cNvSpPr txBox="1"/>
          <p:nvPr/>
        </p:nvSpPr>
        <p:spPr>
          <a:xfrm>
            <a:off x="4901900" y="1324950"/>
            <a:ext cx="3657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Convergence Time: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Successors: 1-2 seconds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finger tables: ~8 seconds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correct during convergence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Overhead: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Stabilization: O(1) msgs/node/interval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amplification: R operations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Lookup: O(log N) messages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GB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Distribution: σ ≈ 3.2 keys per node (100 keys, 8 nodes)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&amp; Validation</a:t>
            </a:r>
            <a:endParaRPr sz="3200"/>
          </a:p>
        </p:txBody>
      </p:sp>
      <p:sp>
        <p:nvSpPr>
          <p:cNvPr id="180" name="Google Shape;180;p33"/>
          <p:cNvSpPr txBox="1"/>
          <p:nvPr>
            <p:ph idx="1" type="body"/>
          </p:nvPr>
        </p:nvSpPr>
        <p:spPr>
          <a:xfrm>
            <a:off x="457200" y="1063225"/>
            <a:ext cx="8229600" cy="4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Correctness Testing: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Ring formation with 5+ nodes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Correct key placement via consistent hashing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Replication verification (3 consecutive nodes)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All CRUD operations functional</a:t>
            </a:r>
            <a:endParaRPr sz="1400"/>
          </a:p>
          <a:p>
            <a:pPr indent="-317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Fault Tolerance Testing: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Single node failure: All keys remain accessible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Cascading failures: System survives until R consecutive nodes fail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Self-healing: Ring stabilizes within 2-3 seconds</a:t>
            </a:r>
            <a:endParaRPr sz="1400"/>
          </a:p>
          <a:p>
            <a:pPr indent="-317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Features Validated: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Dynamic membership (join/leave)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Persistent storage across restarts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Real-time visualization and monitoring</a:t>
            </a:r>
            <a:endParaRPr sz="1400"/>
          </a:p>
          <a:p>
            <a:pPr indent="-279400" lvl="1" marL="74295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Load balancing via consistent hashing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title"/>
          </p:nvPr>
        </p:nvSpPr>
        <p:spPr>
          <a:xfrm>
            <a:off x="457200" y="3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sz="3200"/>
          </a:p>
        </p:txBody>
      </p:sp>
      <p:sp>
        <p:nvSpPr>
          <p:cNvPr id="186" name="Google Shape;186;p34"/>
          <p:cNvSpPr txBox="1"/>
          <p:nvPr>
            <p:ph idx="1" type="body"/>
          </p:nvPr>
        </p:nvSpPr>
        <p:spPr>
          <a:xfrm>
            <a:off x="457200" y="1063225"/>
            <a:ext cx="8229600" cy="3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Achievements:</a:t>
            </a:r>
            <a:endParaRPr sz="1400"/>
          </a:p>
          <a:p>
            <a:pPr indent="-285750" lvl="1" marL="7429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Complete Chord protocol implementation</a:t>
            </a:r>
            <a:endParaRPr sz="1400"/>
          </a:p>
          <a:p>
            <a:pPr indent="-285750" lvl="1" marL="7429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O(log N) lookup routing with finger tables</a:t>
            </a:r>
            <a:endParaRPr sz="1400"/>
          </a:p>
          <a:p>
            <a:pPr indent="-285750" lvl="1" marL="7429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Configurable replication for fault tolerance</a:t>
            </a:r>
            <a:endParaRPr sz="1400"/>
          </a:p>
          <a:p>
            <a:pPr indent="-285750" lvl="1" marL="7429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Dynamic membership with automatic stabilization</a:t>
            </a:r>
            <a:endParaRPr sz="1400"/>
          </a:p>
          <a:p>
            <a:pPr indent="-285750" lvl="1" marL="7429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Production-grade gRPC communication</a:t>
            </a:r>
            <a:endParaRPr sz="1400"/>
          </a:p>
          <a:p>
            <a:pPr indent="-285750" lvl="1" marL="7429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Real-time web visualization</a:t>
            </a:r>
            <a:endParaRPr sz="1400"/>
          </a:p>
          <a:p>
            <a:pPr indent="-3175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GB" sz="1400"/>
              <a:t>Future Enhancements:</a:t>
            </a:r>
            <a:endParaRPr sz="1400"/>
          </a:p>
          <a:p>
            <a:pPr indent="-285750" lvl="1" marL="7429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Virtual nodes for better load distribution</a:t>
            </a:r>
            <a:endParaRPr sz="1400"/>
          </a:p>
          <a:p>
            <a:pPr indent="-285750" lvl="1" marL="7429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Stronger consistency (vector clocks, Merkle trees)</a:t>
            </a:r>
            <a:endParaRPr sz="1400"/>
          </a:p>
          <a:p>
            <a:pPr indent="-285750" lvl="1" marL="7429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Security (TLS, authentication, access control)</a:t>
            </a:r>
            <a:endParaRPr sz="1400"/>
          </a:p>
          <a:p>
            <a:pPr indent="-285750" lvl="1" marL="7429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Monitoring &amp; metrics (Prometheus, Grafana)</a:t>
            </a:r>
            <a:endParaRPr sz="1400"/>
          </a:p>
          <a:p>
            <a:pPr indent="-285750" lvl="1" marL="7429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</a:pPr>
            <a:r>
              <a:rPr lang="en-GB" sz="1400"/>
              <a:t>Automatic key redistribution on membership changes</a:t>
            </a:r>
            <a:endParaRPr sz="1400"/>
          </a:p>
          <a:p>
            <a:pPr indent="0" lvl="0" marL="342900" rtl="0" algn="ctr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